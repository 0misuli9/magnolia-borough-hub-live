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40916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56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0C030"/>
                </a:solidFill>
              </a:rPr>
              <a:t>BOROUGH OF MAGNOLIA · CAMDEN COUNTY · NJ · EST. 1915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Community Hub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D8F3DC"/>
                </a:solidFill>
              </a:rPr>
              <a:t>Transforming How Magnolia Residents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1" dirty="0">
                <a:solidFill>
                  <a:srgbClr val="D8F3DC"/>
                </a:solidFill>
              </a:rPr>
              <a:t>Connect with Their Borough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4114800" cy="45720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B92"/>
                </a:solidFill>
              </a:rPr>
              <a:t>Presented by  </a:t>
            </a:r>
            <a:pPr algn="l" indent="0" marL="0">
              <a:buNone/>
            </a:pPr>
            <a:r>
              <a:rPr lang="en-US" sz="1100" b="1" dirty="0">
                <a:solidFill>
                  <a:srgbClr val="F0C030"/>
                </a:solidFill>
              </a:rPr>
              <a:t>Misuli Productions LLC</a:t>
            </a:r>
            <a:pPr algn="l" indent="0" marL="0">
              <a:buNone/>
            </a:pPr>
            <a:r>
              <a:rPr lang="en-US" sz="1100" dirty="0">
                <a:solidFill>
                  <a:srgbClr val="8AAB92"/>
                </a:solidFill>
              </a:rPr>
              <a:t>   ·   </a:t>
            </a:r>
            <a:pPr algn="l" indent="0" marL="0">
              <a:buNone/>
            </a:pPr>
            <a:r>
              <a:rPr lang="en-US" sz="1100" dirty="0">
                <a:solidFill>
                  <a:srgbClr val="8AAB92"/>
                </a:solidFill>
              </a:rPr>
              <a:t>Confidential Proposal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74320" y="3291840"/>
            <a:ext cx="1097280" cy="54864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4290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8F3DC"/>
                </a:solidFill>
              </a:rPr>
              <a:t>Every day, borough staff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D8F3DC"/>
                </a:solidFill>
              </a:rPr>
              <a:t>spend hours answering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D8F3DC"/>
                </a:solidFill>
              </a:rPr>
              <a:t>the same questions.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365760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49040" y="365760"/>
            <a:ext cx="2468880" cy="640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502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49040" y="1024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Hundreds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40480" y="1463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651"/>
                </a:solidFill>
              </a:rPr>
              <a:t>of calls per month asking the same questions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365760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365760"/>
            <a:ext cx="2468880" cy="64008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502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1024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1463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651"/>
                </a:solidFill>
              </a:rPr>
              <a:t>residents wait for responses to basic inquiries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2560320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2560320"/>
            <a:ext cx="2468880" cy="640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749040" y="32186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40480" y="36576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651"/>
                </a:solidFill>
              </a:rPr>
              <a:t>way for residents to check if their issue was received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560320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2560320"/>
            <a:ext cx="246888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😤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400800" y="32186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36576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651"/>
                </a:solidFill>
              </a:rPr>
              <a:t>service requests that fall through the cracks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Powerful Features.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51760" cy="2834640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F0C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0C030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Answers resident questions instantly, 24 hours a day, 7 days a week — no staff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651760" cy="2834640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F0C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0C030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240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📢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Announcements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Alerts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Staff push real-time updates to the entire community in seconds from any device.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651760" cy="2834640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F0C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0C030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2240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🎫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3504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Request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Residents report issues and track their status. Nothing falls through the cracks.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30"/>
                </a:solidFill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 Assistant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78992"/>
            <a:ext cx="164592" cy="164592"/>
          </a:xfrm>
          <a:prstGeom prst="ellipse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0241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Magnolia Borough AI Assistant  ·  Online 24/7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0FAF2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6479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F"/>
                </a:solidFill>
              </a:rPr>
              <a:t>👋 Welcome! How can I help you today?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242316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45059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When is bulk trash pickup?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0FAF2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27248"/>
            <a:ext cx="32918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1F"/>
                </a:solidFill>
              </a:rPr>
              <a:t>Bulk trash pickup in Magnolia is quarterly — Spring (April), Summer (July), Fall (October) and Winter (January). Items must be curbside by 7AM!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71600" y="388620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91363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 also want to report a pothole.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60120"/>
            <a:ext cx="64008" cy="914400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05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Available 24/7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1371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51"/>
                </a:solidFill>
              </a:rPr>
              <a:t>Residents get answers at 11PM, on weekends, on holidays. Always 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0116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011680"/>
            <a:ext cx="64008" cy="914400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057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Handles Repetition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2423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51"/>
                </a:solidFill>
              </a:rPr>
              <a:t>Same questions answered instantly without touching staff time.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63240"/>
            <a:ext cx="64008" cy="914400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1089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4068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Borough Knowledge Base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3474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51"/>
                </a:solidFill>
              </a:rPr>
              <a:t>Trained on Magnolia's specific services, schedules, and policies.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41148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4114800"/>
            <a:ext cx="64008" cy="914400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1605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44068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Logs Requests Automatically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51"/>
                </a:solidFill>
              </a:rPr>
              <a:t>If a resident reports an issue, a ticket is created instantly.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30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Announcements &amp; Alerts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651"/>
                </a:solidFill>
              </a:rPr>
              <a:t>Staff post once. Every resident sees it instantly.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91440" cy="10972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43560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35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🚨 URGENT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91640" y="14173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F"/>
                </a:solidFill>
              </a:rPr>
              <a:t>Water Main Maintenance — West Evesham Ave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801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51"/>
                </a:solidFill>
              </a:rPr>
              <a:t>Service interruption Thursday March 26, 9AM–2PM. Residents may experience reduced pressure.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841248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60320"/>
            <a:ext cx="91440" cy="109728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67004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700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📅 EVENT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91640" y="26517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F"/>
                </a:solidFill>
              </a:rPr>
              <a:t>Borough Council Meeting — April 7th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03580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51"/>
                </a:solidFill>
              </a:rPr>
              <a:t>Regular council meeting Monday April 7th at 7:00 PM in Borough Hall. Public comment at 7:30 PM.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F0FAF2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94760"/>
            <a:ext cx="91440" cy="10972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90448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044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ℹ️ INFO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91640" y="38862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F"/>
                </a:solidFill>
              </a:rPr>
              <a:t>Spring Bulk Trash Pickup Schedule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27024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51"/>
                </a:solidFill>
              </a:rPr>
              <a:t>Spring bulk trash begins the week of April 14th. Items curbside by 7AM. No electronics or hazardous materials.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0916C"/>
                </a:solidFill>
              </a:rPr>
              <a:t>✓  Staff manage all announcements from a simple admin panel — no technical knowledge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30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Request &amp; Tracking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914400"/>
            <a:ext cx="914400" cy="9144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0C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Resident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Reports Issue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651"/>
                </a:solidFill>
              </a:rPr>
              <a:t>Via AI chat — naturally, in plain English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64208" y="1344168"/>
            <a:ext cx="338328" cy="54864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914400"/>
            <a:ext cx="914400" cy="9144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0C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11680" y="19659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AI Collects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Details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651"/>
                </a:solidFill>
              </a:rPr>
              <a:t>Type, location, description — automatically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344168"/>
            <a:ext cx="338328" cy="54864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914400"/>
            <a:ext cx="914400" cy="9144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0C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🎫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749040" y="19659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Ticket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Created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651"/>
                </a:solidFill>
              </a:rPr>
              <a:t>Tracking number issued instantly (MGN-XXXX)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38928" y="1344168"/>
            <a:ext cx="338328" cy="54864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914400"/>
            <a:ext cx="914400" cy="9144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0C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9788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0" y="19659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Staff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Notified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651"/>
                </a:solidFill>
              </a:rPr>
              <a:t>Right department alerted immediately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76288" y="1344168"/>
            <a:ext cx="338328" cy="54864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5240" y="914400"/>
            <a:ext cx="914400" cy="9144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F0C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3524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223760" y="19659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Issue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Resolved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651"/>
                </a:solidFill>
              </a:rPr>
              <a:t>Status updated — resident can check anytime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337560"/>
            <a:ext cx="2743200" cy="1463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337560"/>
            <a:ext cx="2743200" cy="54864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4564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MGN-XXXX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720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Unique tracking number for every request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91840" y="3337560"/>
            <a:ext cx="2743200" cy="1463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91840" y="3337560"/>
            <a:ext cx="2743200" cy="54864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4564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38328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Status visible to residents anytime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3337560"/>
            <a:ext cx="2743200" cy="1463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3337560"/>
            <a:ext cx="2743200" cy="54864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4564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30936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Requests fall through the cracks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 Security &amp; Privacy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651"/>
                </a:solidFill>
              </a:rPr>
              <a:t>Built with government-grade security from the ground 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416052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43000" y="14356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No Sensitive Data Stored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9280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51"/>
                </a:solidFill>
              </a:rPr>
              <a:t>The platform does not store personal resident information. Questions and service requests are processed and logged only with the details residents voluntarily provide.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25880"/>
            <a:ext cx="416052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17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577840" y="14356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Secure API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89280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51"/>
                </a:solidFill>
              </a:rPr>
              <a:t>All AI processing happens through encrypted server-side calls. API credentials are never exposed to the public. Industry-standard security protocols throughout.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54680"/>
            <a:ext cx="416052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461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43000" y="32644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Enterprise Cloud 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72160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51"/>
                </a:solidFill>
              </a:rPr>
              <a:t>Hosted on Vercel's enterprise-grade platform with 99.9% uptime SLA. Powered by Anthropic's Claude AI — the same technology trusted by Fortune 500 companies.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15468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154680"/>
            <a:ext cx="416052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461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577840" y="32644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Compliance Ready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72160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651"/>
                </a:solidFill>
              </a:rPr>
              <a:t>Platform architecture is designed to support NJ Open Public Records Act compliance. Data handling policies available for legal and cybersecurity review upon request.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30"/>
                </a:solidFill>
              </a:rPr>
              <a:t>All platform documentation available for full cybersecurity review  ·  Happy to work with borough IT and legal teams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vs. Value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840480" cy="502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Monthly Investment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651"/>
                </a:solidFill>
              </a:rPr>
              <a:t>per month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29260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718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A6651"/>
                </a:solidFill>
              </a:rPr>
              <a:t>Platform hosting &amp; maintenance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741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A6651"/>
                </a:solidFill>
              </a:rPr>
              <a:t>24/7 AI availability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764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A6651"/>
                </a:solidFill>
              </a:rPr>
              <a:t>Ongoing updates &amp; improvements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1788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916C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4A6651"/>
                </a:solidFill>
              </a:rPr>
              <a:t>Dedicated support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4206240" cy="3840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960120"/>
            <a:ext cx="4206240" cy="502920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960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What Magnolia Gets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60020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1600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30"/>
                </a:solidFill>
              </a:rPr>
              <a:t>Hours/week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1847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of staff time returned to meaningful work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22199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22219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30"/>
                </a:solidFill>
              </a:rPr>
              <a:t>Fewer calls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from residents asking repetitive questions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284378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28437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30"/>
                </a:solidFill>
              </a:rPr>
              <a:t>First borough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0906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in the area with AI-powered resident services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346557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34655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30"/>
                </a:solidFill>
              </a:rPr>
              <a:t>Residents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37124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who feel heard, helped, and responded to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09160" y="408736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1208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30"/>
                </a:solidFill>
              </a:rPr>
              <a:t>Community trust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43342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built through transparency and accountability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0C030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40916C">
              <a:alpha val="22000"/>
            </a:srgbClr>
          </a:solidFill>
          <a:ln w="12700">
            <a:solidFill>
              <a:srgbClr val="40916C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C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Approve a 90-Day Pilot Program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8F3DC"/>
                </a:solidFill>
              </a:rPr>
              <a:t>Let Magnolia be the first borough in South Jersey to give residents a true 24/7 AI-powered front desk.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D8F3DC"/>
                </a:solidFill>
              </a:rPr>
              <a:t>No long-term commitment required. Prove it works. Then decide.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2606040" cy="1920240"/>
          </a:xfrm>
          <a:prstGeom prst="rect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F0C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30"/>
                </a:solidFill>
              </a:rPr>
              <a:t>90-Day Pilot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Full platform live for residents and staff to use in real conditions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2651760"/>
            <a:ext cx="2606040" cy="1920240"/>
          </a:xfrm>
          <a:prstGeom prst="rect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F0C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3246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30"/>
                </a:solidFill>
              </a:rPr>
              <a:t>$300/Month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All-inclusive — no setup fees, no hidden costs, no long-term contract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651760"/>
            <a:ext cx="2606040" cy="1920240"/>
          </a:xfrm>
          <a:prstGeom prst="rect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F0C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80760" y="3246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30"/>
                </a:solidFill>
              </a:rPr>
              <a:t>Full Reporting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Monthly usage report showing requests handled, questions answered, time saved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30"/>
                </a:solidFill>
              </a:rPr>
              <a:t>Myke Scott  ·  Misuli Productions LLC  ·  misuli.ai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Magnolia Borough AI Community Hub</dc:title>
  <dc:subject>PptxGenJS Presentation</dc:subject>
  <dc:creator>Misuli Productions LLC</dc:creator>
  <cp:lastModifiedBy>Misuli Productions LLC</cp:lastModifiedBy>
  <cp:revision>1</cp:revision>
  <dcterms:created xsi:type="dcterms:W3CDTF">2026-04-11T04:50:22Z</dcterms:created>
  <dcterms:modified xsi:type="dcterms:W3CDTF">2026-04-11T04:50:22Z</dcterms:modified>
</cp:coreProperties>
</file>